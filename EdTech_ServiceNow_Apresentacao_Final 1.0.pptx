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6" r:id="rId4"/>
    <p:sldId id="287" r:id="rId5"/>
    <p:sldId id="258" r:id="rId6"/>
    <p:sldId id="259" r:id="rId7"/>
    <p:sldId id="260" r:id="rId8"/>
    <p:sldId id="288" r:id="rId9"/>
    <p:sldId id="261" r:id="rId10"/>
    <p:sldId id="262" r:id="rId11"/>
    <p:sldId id="263" r:id="rId12"/>
    <p:sldId id="264" r:id="rId13"/>
    <p:sldId id="265" r:id="rId14"/>
    <p:sldId id="266" r:id="rId15"/>
    <p:sldId id="289" r:id="rId16"/>
    <p:sldId id="267" r:id="rId17"/>
    <p:sldId id="268" r:id="rId18"/>
    <p:sldId id="269" r:id="rId19"/>
    <p:sldId id="290" r:id="rId20"/>
    <p:sldId id="270" r:id="rId21"/>
    <p:sldId id="271" r:id="rId22"/>
    <p:sldId id="272" r:id="rId23"/>
    <p:sldId id="291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033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4940D-DF2E-1810-6F39-25280A71B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8843F-B82B-11F5-2DE7-2CBF195D0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2305F9-0C13-8910-37FF-995A722B1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391D2-AF34-5A02-6194-BD9A58E35F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4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1CB0D-AAA6-5CC7-B540-9C0DE089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0816C1-5224-5C5D-C2F7-B1AE2B802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35D4C-E27B-E3E0-A122-459DBA0E1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8B9E9-6674-0322-E2FC-3BE8617D27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91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D12CA-E244-B4F3-88F4-D7DA86EE0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982CA-DA92-69F8-DFC0-77D139839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3BDC89-0939-F3B2-F4D2-562D2F44F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8EE8E-48CB-2F75-6AD7-A6AA77789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95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6B4AA-6BF5-06F9-AE88-C864BD02B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9F7C3-8D6A-AA8A-06CD-6B0C8C841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C2AF2-F7FA-2FDE-F5EB-0BF7211E7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28CCA-CA06-2E97-204A-34840E5DC9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687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45F03-FA45-3414-AE5B-69377A1F5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010CF-8ECB-6F39-38D7-E74261491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C71EEB-1640-575A-E977-05FB29555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8A7C6-3CD4-81EC-A19C-159CB2C4E1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394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2560"/>
          </a:solidFill>
          <a:ln w="12700">
            <a:solidFill>
              <a:srgbClr val="0D2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0149F9"/>
          </a:solidFill>
          <a:ln w="12700">
            <a:solidFill>
              <a:srgbClr val="0149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2920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3444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kern="0" spc="200" dirty="0">
                <a:solidFill>
                  <a:srgbClr val="FFFFFF"/>
                </a:solidFill>
              </a:rPr>
              <a:t>EdTech</a:t>
            </a:r>
            <a:endParaRPr lang="en-US" sz="68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D4DBE9"/>
                </a:solidFill>
              </a:rPr>
              <a:t>ServiceNow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3063240"/>
            <a:ext cx="5303520" cy="0"/>
          </a:xfrm>
          <a:prstGeom prst="line">
            <a:avLst/>
          </a:prstGeom>
          <a:noFill/>
          <a:ln w="254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3B8E0"/>
                </a:solidFill>
              </a:rPr>
              <a:t>Sistema de Atendimento Acadêmico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7490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AA"/>
                </a:solidFill>
              </a:rPr>
              <a:t>Apresentação Parcial  •  Programa Alpar Rocket  •  Junho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46520" y="8686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DBE9"/>
                </a:solidFill>
              </a:rPr>
              <a:t>3 Áreas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4DBE9"/>
                </a:solidFill>
              </a:rPr>
              <a:t>Cobertas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75120" y="1719072"/>
            <a:ext cx="1463040" cy="0"/>
          </a:xfrm>
          <a:prstGeom prst="line">
            <a:avLst/>
          </a:prstGeom>
          <a:noFill/>
          <a:ln w="12700">
            <a:solidFill>
              <a:srgbClr val="1E3D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263640" y="181051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DD0"/>
                </a:solidFill>
              </a:rPr>
              <a:t>Secretaria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9DD0"/>
                </a:solidFill>
              </a:rPr>
              <a:t>Financeiro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9DD0"/>
                </a:solidFill>
              </a:rPr>
              <a:t>Suporte Técnico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75120" y="2926080"/>
            <a:ext cx="1463040" cy="0"/>
          </a:xfrm>
          <a:prstGeom prst="line">
            <a:avLst/>
          </a:prstGeom>
          <a:noFill/>
          <a:ln w="12700">
            <a:solidFill>
              <a:srgbClr val="1E3D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263640" y="3017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AAA"/>
                </a:solidFill>
              </a:rPr>
              <a:t>Plataforma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7AAA"/>
                </a:solidFill>
              </a:rPr>
              <a:t>ServiceNow ESM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92608" y="18288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</a:rPr>
              <a:t>Agenda da Apresentação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1097280"/>
            <a:ext cx="420624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92608" y="1097280"/>
            <a:ext cx="530352" cy="777240"/>
          </a:xfrm>
          <a:prstGeom prst="rect">
            <a:avLst/>
          </a:prstGeom>
          <a:solidFill>
            <a:srgbClr val="0149F9"/>
          </a:solidFill>
          <a:ln w="12700">
            <a:solidFill>
              <a:srgbClr val="0149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92608" y="1271016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O Problema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49961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Por que isso precisa mudar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1993392"/>
            <a:ext cx="420624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92608" y="1993392"/>
            <a:ext cx="530352" cy="777240"/>
          </a:xfrm>
          <a:prstGeom prst="rect">
            <a:avLst/>
          </a:prstGeom>
          <a:solidFill>
            <a:srgbClr val="0149F9"/>
          </a:solidFill>
          <a:ln w="12700">
            <a:solidFill>
              <a:srgbClr val="0149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92608" y="2167128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2066544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 Solução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39572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Como o sistema funciona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" y="2889504"/>
            <a:ext cx="420624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292608" y="2889504"/>
            <a:ext cx="530352" cy="77724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92608" y="306324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2962656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Portal do Aluno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329184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Experiência digital personalizada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" y="3785616"/>
            <a:ext cx="420624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92608" y="3785616"/>
            <a:ext cx="530352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292608" y="3959352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385876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Secretaria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418795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Documentos: antes vs. depois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27448" y="1097280"/>
            <a:ext cx="420624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27448" y="1097280"/>
            <a:ext cx="530352" cy="777240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727448" y="1271016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67528" y="1170432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Financeiro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67528" y="149961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Boletos: a jornada que muda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27448" y="1993392"/>
            <a:ext cx="420624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727448" y="1993392"/>
            <a:ext cx="530352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727448" y="2167128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67528" y="2066544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Suporte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67528" y="239572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Atendimento técnico com prazo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27448" y="2889504"/>
            <a:ext cx="420624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4727448" y="2889504"/>
            <a:ext cx="530352" cy="77724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727448" y="306324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67528" y="2962656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Gestor Acadêmico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67528" y="329184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Visibilidade e controle total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27448" y="3785616"/>
            <a:ext cx="420624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4727448" y="3785616"/>
            <a:ext cx="530352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727448" y="3959352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67528" y="385876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Encerramento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67528" y="418795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 que entregamos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92608" y="4681728"/>
            <a:ext cx="8558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Ordem flexível — qualquer bloco pode ser apresentado primeiro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 |  Apresentação Parcial 2026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EB6F-92FE-E411-0E09-D183922F0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DB7129-8B89-A0A6-F1CB-E3337BA4FDB9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774EF1-B065-C5EC-3BD8-4EC2681B9053}"/>
              </a:ext>
            </a:extLst>
          </p:cNvPr>
          <p:cNvSpPr/>
          <p:nvPr/>
        </p:nvSpPr>
        <p:spPr>
          <a:xfrm>
            <a:off x="292608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0D1B3E"/>
                </a:solidFill>
              </a:rPr>
              <a:t>O </a:t>
            </a:r>
            <a:r>
              <a:rPr lang="en-US" sz="2500" b="1" dirty="0" err="1">
                <a:solidFill>
                  <a:srgbClr val="0D1B3E"/>
                </a:solidFill>
              </a:rPr>
              <a:t>Problema</a:t>
            </a:r>
            <a:r>
              <a:rPr lang="en-US" sz="2500" b="1" dirty="0">
                <a:solidFill>
                  <a:srgbClr val="0D1B3E"/>
                </a:solidFill>
              </a:rPr>
              <a:t>: Storytelling </a:t>
            </a:r>
            <a:endParaRPr lang="en-US" sz="25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3809BE3-8171-1A5A-B7D9-A9F2C65F92EE}"/>
              </a:ext>
            </a:extLst>
          </p:cNvPr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| Apresentação Parcial 2026</a:t>
            </a:r>
            <a:endParaRPr lang="en-US" sz="8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E50866D5-4DD5-2A93-8A03-4D197AF1E8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808"/>
          <a:stretch>
            <a:fillRect/>
          </a:stretch>
        </p:blipFill>
        <p:spPr>
          <a:xfrm>
            <a:off x="335062" y="1265044"/>
            <a:ext cx="8473875" cy="283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9294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CCF29-A215-FA92-2E5D-6D6232E97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FE4C88-6734-30E2-CD4C-D4877D00F8D4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6288329-AAF6-C602-D44E-D32F4ED80A18}"/>
              </a:ext>
            </a:extLst>
          </p:cNvPr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| Apresentação Parcial 2026</a:t>
            </a:r>
            <a:endParaRPr lang="en-US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21BFD-F172-15D4-3571-F66AD1641E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936"/>
          <a:stretch>
            <a:fillRect/>
          </a:stretch>
        </p:blipFill>
        <p:spPr>
          <a:xfrm>
            <a:off x="365760" y="1314123"/>
            <a:ext cx="8520410" cy="273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1669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92608" y="18288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</a:rPr>
              <a:t>O Problema: Atendimento Manual e Sem Visibilidade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1209751" cy="246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38328" y="832104"/>
            <a:ext cx="11183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DIAGNÓSTICO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1143000"/>
            <a:ext cx="2724912" cy="356616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92608" y="1143000"/>
            <a:ext cx="2724912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234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1261872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Secretaria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6596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6384" y="1911096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Ida presencial ou e-mail para pedir qualquer documento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487168"/>
            <a:ext cx="2395728" cy="0"/>
          </a:xfrm>
          <a:prstGeom prst="line">
            <a:avLst/>
          </a:prstGeom>
          <a:noFill/>
          <a:ln w="635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3464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6384" y="2779776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Prazo de 3 dias prometido mas nunca monitorado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355848"/>
            <a:ext cx="2395728" cy="0"/>
          </a:xfrm>
          <a:prstGeom prst="line">
            <a:avLst/>
          </a:prstGeom>
          <a:noFill/>
          <a:ln w="635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033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6384" y="3648456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Aluno retorna sem saber onde está o pedido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3172968" y="1143000"/>
            <a:ext cx="2724912" cy="356616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3"/>
          <p:cNvSpPr/>
          <p:nvPr/>
        </p:nvSpPr>
        <p:spPr>
          <a:xfrm>
            <a:off x="3172968" y="1143000"/>
            <a:ext cx="2724912" cy="56692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123444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767328" y="1261872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Financeiro</a:t>
            </a:r>
            <a:endParaRPr lang="en-US" sz="13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965960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666744" y="1911096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Boleto não chega — segunda via depende de e-mail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3337560" y="2487168"/>
            <a:ext cx="2395728" cy="0"/>
          </a:xfrm>
          <a:prstGeom prst="line">
            <a:avLst/>
          </a:prstGeom>
          <a:noFill/>
          <a:ln w="635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834640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666744" y="2779776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Prazo de 1 dia não cumprido nem medido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3337560" y="3355848"/>
            <a:ext cx="2395728" cy="0"/>
          </a:xfrm>
          <a:prstGeom prst="line">
            <a:avLst/>
          </a:prstGeom>
          <a:noFill/>
          <a:ln w="635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703320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666744" y="3648456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Atendimento só acelera após reclamação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6053328" y="1143000"/>
            <a:ext cx="2724912" cy="356616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1"/>
          <p:cNvSpPr/>
          <p:nvPr/>
        </p:nvSpPr>
        <p:spPr>
          <a:xfrm>
            <a:off x="6053328" y="1143000"/>
            <a:ext cx="2724912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1234440"/>
            <a:ext cx="365760" cy="36576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647688" y="1261872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Suporte Técnico</a:t>
            </a:r>
            <a:endParaRPr lang="en-US" sz="13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965960"/>
            <a:ext cx="256032" cy="25603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547104" y="1911096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Aula não abre às 22h — nenhum canal claro</a:t>
            </a:r>
            <a:endParaRPr lang="en-US" sz="1100" dirty="0"/>
          </a:p>
        </p:txBody>
      </p:sp>
      <p:sp>
        <p:nvSpPr>
          <p:cNvPr id="36" name="Shape 24"/>
          <p:cNvSpPr/>
          <p:nvPr/>
        </p:nvSpPr>
        <p:spPr>
          <a:xfrm>
            <a:off x="6217920" y="2487168"/>
            <a:ext cx="2395728" cy="0"/>
          </a:xfrm>
          <a:prstGeom prst="line">
            <a:avLst/>
          </a:prstGeom>
          <a:noFill/>
          <a:ln w="635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834640"/>
            <a:ext cx="256032" cy="25603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547104" y="2779776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Resposta prometida em 3h, realidade 8h+</a:t>
            </a:r>
            <a:endParaRPr lang="en-US" sz="1100" dirty="0"/>
          </a:p>
        </p:txBody>
      </p:sp>
      <p:sp>
        <p:nvSpPr>
          <p:cNvPr id="39" name="Shape 26"/>
          <p:cNvSpPr/>
          <p:nvPr/>
        </p:nvSpPr>
        <p:spPr>
          <a:xfrm>
            <a:off x="6217920" y="3355848"/>
            <a:ext cx="2395728" cy="0"/>
          </a:xfrm>
          <a:prstGeom prst="line">
            <a:avLst/>
          </a:prstGeom>
          <a:noFill/>
          <a:ln w="635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703320"/>
            <a:ext cx="256032" cy="256032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547104" y="3648456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Zero visibilidade para o aluno</a:t>
            </a:r>
            <a:endParaRPr lang="en-US" sz="1100" dirty="0"/>
          </a:p>
        </p:txBody>
      </p:sp>
      <p:sp>
        <p:nvSpPr>
          <p:cNvPr id="42" name="Shape 28"/>
          <p:cNvSpPr/>
          <p:nvPr/>
        </p:nvSpPr>
        <p:spPr>
          <a:xfrm>
            <a:off x="292608" y="4645152"/>
            <a:ext cx="8558784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29"/>
          <p:cNvSpPr/>
          <p:nvPr/>
        </p:nvSpPr>
        <p:spPr>
          <a:xfrm>
            <a:off x="411480" y="466344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2400E"/>
                </a:solidFill>
              </a:rPr>
              <a:t>Resultado: prazos não cumpridos, aluno no escuro, gestão tomando decisão às cegas</a:t>
            </a:r>
            <a:endParaRPr lang="en-US" sz="1000" dirty="0"/>
          </a:p>
        </p:txBody>
      </p:sp>
      <p:sp>
        <p:nvSpPr>
          <p:cNvPr id="44" name="Text 30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</a:t>
            </a:r>
            <a:endParaRPr lang="en-US" sz="800" dirty="0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92608" y="18288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</a:rPr>
              <a:t>A Solução: Um Portal Único que Conecta Tudo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1209751" cy="246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38328" y="832104"/>
            <a:ext cx="11183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VISÃO GERAL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188720"/>
            <a:ext cx="1664208" cy="13898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280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1792224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Aluno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Professor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2608" y="223113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3B8E0"/>
                </a:solidFill>
              </a:rPr>
              <a:t>Acessa o portal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174650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029968" y="1188720"/>
            <a:ext cx="1664208" cy="1389888"/>
          </a:xfrm>
          <a:prstGeom prst="rect">
            <a:avLst/>
          </a:prstGeom>
          <a:solidFill>
            <a:srgbClr val="0149F9"/>
          </a:solidFill>
          <a:ln w="12700">
            <a:solidFill>
              <a:srgbClr val="0149F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472" y="12801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66544" y="1792224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Portal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EdTech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2066544" y="223113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3B8E0"/>
                </a:solidFill>
              </a:rPr>
              <a:t>Escolhe o serviço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1746504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803904" y="1188720"/>
            <a:ext cx="1664208" cy="1389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7408" y="128016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840480" y="1792224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 Áreas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3840480" y="223113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3B8E0"/>
                </a:solidFill>
              </a:rPr>
              <a:t>Sec · Fin · Suporte</a:t>
            </a:r>
            <a:endParaRPr lang="en-US" sz="8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1746504"/>
            <a:ext cx="256032" cy="256032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5577840" y="1188720"/>
            <a:ext cx="1664208" cy="1389888"/>
          </a:xfrm>
          <a:prstGeom prst="rect">
            <a:avLst/>
          </a:prstGeom>
          <a:solidFill>
            <a:srgbClr val="0D6B4A"/>
          </a:solidFill>
          <a:ln w="12700">
            <a:solidFill>
              <a:srgbClr val="0D6B4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344" y="1280160"/>
            <a:ext cx="457200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614416" y="1792224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Equipe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Interna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5614416" y="223113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3B8E0"/>
                </a:solidFill>
              </a:rPr>
              <a:t>Atende e encerra</a:t>
            </a:r>
            <a:endParaRPr lang="en-US" sz="8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1746504"/>
            <a:ext cx="256032" cy="256032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7351776" y="1188720"/>
            <a:ext cx="1664208" cy="1389888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0" y="1280160"/>
            <a:ext cx="457200" cy="4572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388352" y="1792224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Gestor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Acadêmico</a:t>
            </a:r>
            <a:endParaRPr lang="en-US" sz="1000" dirty="0"/>
          </a:p>
        </p:txBody>
      </p:sp>
      <p:sp>
        <p:nvSpPr>
          <p:cNvPr id="29" name="Text 18"/>
          <p:cNvSpPr/>
          <p:nvPr/>
        </p:nvSpPr>
        <p:spPr>
          <a:xfrm>
            <a:off x="7388352" y="223113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3B8E0"/>
                </a:solidFill>
              </a:rPr>
              <a:t>Painel de controle</a:t>
            </a:r>
            <a:endParaRPr lang="en-US" sz="85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2608" y="3008376"/>
            <a:ext cx="237744" cy="237744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03504" y="29443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Dados do aluno preenchidos automaticamente nos formulários</a:t>
            </a:r>
            <a:endParaRPr lang="en-US" sz="115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2608" y="3557016"/>
            <a:ext cx="237744" cy="237744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03504" y="34930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Chamado direcionado para a equipe certa — sem intervenção manual</a:t>
            </a:r>
            <a:endParaRPr lang="en-US" sz="115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" y="4087368"/>
            <a:ext cx="237744" cy="237744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603504" y="40416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Aluno acompanha em tempo real pelo portal</a:t>
            </a:r>
            <a:endParaRPr lang="en-US" sz="115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3440" y="3008376"/>
            <a:ext cx="237744" cy="237744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4974336" y="29443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Prazo monitorado: Suporte 3h/8h  ·  Financeiro 1 dia  ·  Secretaria 3 dias</a:t>
            </a:r>
            <a:endParaRPr lang="en-US" sz="115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3440" y="3557016"/>
            <a:ext cx="237744" cy="237744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4974336" y="34930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Pesquisa de satisfação disparada ao encerrar — resultado para o Gestor</a:t>
            </a:r>
            <a:endParaRPr lang="en-US" sz="1150" dirty="0"/>
          </a:p>
        </p:txBody>
      </p:sp>
      <p:sp>
        <p:nvSpPr>
          <p:cNvPr id="40" name="Text 24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 |  Apresentação Parcial 2026</a:t>
            </a:r>
            <a:endParaRPr lang="en-US" sz="800" dirty="0"/>
          </a:p>
        </p:txBody>
      </p:sp>
      <p:pic>
        <p:nvPicPr>
          <p:cNvPr id="42" name="Image 11" descr="preencoded.png">
            <a:extLst>
              <a:ext uri="{FF2B5EF4-FFF2-40B4-BE49-F238E27FC236}">
                <a16:creationId xmlns:a16="http://schemas.microsoft.com/office/drawing/2014/main" id="{760D26CA-9A68-65DF-FF48-173CFA0A6D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76" y="3547872"/>
            <a:ext cx="237744" cy="237744"/>
          </a:xfrm>
          <a:prstGeom prst="rect">
            <a:avLst/>
          </a:prstGeom>
        </p:spPr>
      </p:pic>
      <p:pic>
        <p:nvPicPr>
          <p:cNvPr id="44" name="Image 11" descr="preencoded.png">
            <a:extLst>
              <a:ext uri="{FF2B5EF4-FFF2-40B4-BE49-F238E27FC236}">
                <a16:creationId xmlns:a16="http://schemas.microsoft.com/office/drawing/2014/main" id="{4DB2DDC6-479F-657F-4B4E-99A542EE19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9095" y="3026664"/>
            <a:ext cx="237744" cy="23774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149F9"/>
          </a:solidFill>
          <a:ln w="12700">
            <a:solidFill>
              <a:srgbClr val="0149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91640"/>
            <a:ext cx="1609344" cy="16093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0" y="4114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A2E5A"/>
                </a:solidFill>
              </a:rPr>
              <a:t>C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3200400" y="13716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Portal do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Aluno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3200400" y="2999232"/>
            <a:ext cx="5029200" cy="0"/>
          </a:xfrm>
          <a:prstGeom prst="line">
            <a:avLst/>
          </a:prstGeom>
          <a:noFill/>
          <a:ln w="2540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3200400" y="31272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BE9"/>
                </a:solidFill>
              </a:rPr>
              <a:t>Portal único customizado — experiência personalizada por perfil</a:t>
            </a:r>
            <a:endParaRPr lang="en-US" sz="1400" dirty="0"/>
          </a:p>
        </p:txBody>
      </p:sp>
    </p:spTree>
  </p:cSld>
  <p:clrMapOvr>
    <a:masterClrMapping/>
  </p:clrMapOvr>
  <p:transition spd="med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92608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1B3E"/>
                </a:solidFill>
              </a:rPr>
              <a:t>Portal do Aluno — Experiência Personalizada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560884" y="391714"/>
            <a:ext cx="1367942" cy="246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611466" y="404467"/>
            <a:ext cx="12765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</a:rPr>
              <a:t>PORTAL EDTECH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48" y="2365683"/>
            <a:ext cx="4023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70070" y="862938"/>
            <a:ext cx="3156354" cy="736745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870069" y="862938"/>
            <a:ext cx="423672" cy="736745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453" y="1049531"/>
            <a:ext cx="348984" cy="3489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91869" y="963283"/>
            <a:ext cx="2598519" cy="29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Catálogo de Serviços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1869" y="1229060"/>
            <a:ext cx="2598519" cy="29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Secretaria, Financeiro e Suporte em um só lugar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70074" y="1836688"/>
            <a:ext cx="3156354" cy="736745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870073" y="1836688"/>
            <a:ext cx="423672" cy="736745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417" y="2005096"/>
            <a:ext cx="348984" cy="3489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91873" y="1920515"/>
            <a:ext cx="2598519" cy="29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D1B3E"/>
                </a:solidFill>
              </a:rPr>
              <a:t>Minhas </a:t>
            </a:r>
            <a:r>
              <a:rPr lang="en-US" sz="1200" b="1" dirty="0" err="1">
                <a:solidFill>
                  <a:srgbClr val="0D1B3E"/>
                </a:solidFill>
              </a:rPr>
              <a:t>Solicitações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91865" y="2209461"/>
            <a:ext cx="2436955" cy="29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Acompanhe status de todos os pedidos em tempo real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870073" y="2848200"/>
            <a:ext cx="3156353" cy="736745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9" name="Shape 15"/>
          <p:cNvSpPr/>
          <p:nvPr/>
        </p:nvSpPr>
        <p:spPr>
          <a:xfrm>
            <a:off x="5870072" y="2848200"/>
            <a:ext cx="423672" cy="736745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80" y="3034793"/>
            <a:ext cx="348984" cy="3489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91873" y="2946206"/>
            <a:ext cx="2598519" cy="29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Identidade Visual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91873" y="3220973"/>
            <a:ext cx="2598519" cy="29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Paleta e tema exclusivos EdTech (#0149F9)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870072" y="3863184"/>
            <a:ext cx="3156354" cy="736745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3"/>
          <p:cNvSpPr/>
          <p:nvPr/>
        </p:nvSpPr>
        <p:spPr>
          <a:xfrm>
            <a:off x="5870071" y="3863184"/>
            <a:ext cx="423672" cy="736745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415" y="4049777"/>
            <a:ext cx="348984" cy="3489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491863" y="3933449"/>
            <a:ext cx="2598519" cy="29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Página de Aulas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491863" y="4235957"/>
            <a:ext cx="2534563" cy="29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Aulas, atividades pendentes e resumo acadêmico — experiência além dos chamados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365760" y="4864608"/>
            <a:ext cx="21775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| Apresentação Parcial 2026</a:t>
            </a:r>
            <a:endParaRPr lang="en-US" sz="8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E0D3532-C7BA-34D7-7F93-02C394535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335" y="818868"/>
            <a:ext cx="5465136" cy="3840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92608" y="18288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</a:rPr>
              <a:t>O Que o Aluno e o Professor Encontram no Portal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1379830" cy="246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38328" y="832104"/>
            <a:ext cx="12883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PORTAL EDTECH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1005840"/>
            <a:ext cx="4206240" cy="3337560"/>
          </a:xfrm>
          <a:prstGeom prst="rect">
            <a:avLst/>
          </a:prstGeom>
          <a:solidFill>
            <a:srgbClr val="EEF2FF"/>
          </a:solidFill>
          <a:ln w="19050">
            <a:solidFill>
              <a:srgbClr val="2665F9"/>
            </a:solidFill>
            <a:prstDash val="dash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84048" y="247345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65F9"/>
                </a:solidFill>
              </a:rPr>
              <a:t>📷  IMAGEM: Home do Aluno no Portal EdTech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36592" y="1005840"/>
            <a:ext cx="4087368" cy="694944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736592" y="1005840"/>
            <a:ext cx="548640" cy="694944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17043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58384" y="10789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Catálogo de Serviços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58384" y="1353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Secretaria, Financeiro e Suporte em um só lugar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36592" y="1819656"/>
            <a:ext cx="4087368" cy="694944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736592" y="1819656"/>
            <a:ext cx="548640" cy="694944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98424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58384" y="189280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Minhas Solicitações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58384" y="216712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Status de todos os pedidos — abertos e encerrados — em tempo real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36592" y="2633472"/>
            <a:ext cx="4087368" cy="694944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4736592" y="2633472"/>
            <a:ext cx="548640" cy="694944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798064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58384" y="270662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Identidade Visual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358384" y="298094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Portal com a cara da EdTech — não um sistema genérico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36592" y="3447288"/>
            <a:ext cx="4087368" cy="694944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4736592" y="3447288"/>
            <a:ext cx="548640" cy="694944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611880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58384" y="352044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Notificações Automáticas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358384" y="379476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Aviso em cada etapa: abertura, andamento e conclusão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 |  Apresentação Parcial 2026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92608" y="18288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</a:rPr>
              <a:t>Além dos Chamados: Experiência Acadêmica no Portal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1379830" cy="246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38328" y="832104"/>
            <a:ext cx="12883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PORTAL EDTECH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1005840"/>
            <a:ext cx="4206240" cy="3337560"/>
          </a:xfrm>
          <a:prstGeom prst="rect">
            <a:avLst/>
          </a:prstGeom>
          <a:solidFill>
            <a:srgbClr val="EEF2FF"/>
          </a:solidFill>
          <a:ln w="19050">
            <a:solidFill>
              <a:srgbClr val="2665F9"/>
            </a:solidFill>
            <a:prstDash val="dash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84048" y="247345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65F9"/>
                </a:solidFill>
              </a:rPr>
              <a:t>📷  IMAGEM: Página de Aulas do Aluno no Portal EdTech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36592" y="1005840"/>
            <a:ext cx="4087368" cy="694944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736592" y="1005840"/>
            <a:ext cx="548640" cy="694944"/>
          </a:xfrm>
          <a:prstGeom prst="rect">
            <a:avLst/>
          </a:prstGeom>
          <a:solidFill>
            <a:srgbClr val="0D6B4A"/>
          </a:solidFill>
          <a:ln w="12700">
            <a:solidFill>
              <a:srgbClr val="0D6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17043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58384" y="10789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Minhas Aulas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58384" y="1353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Aulas da semana — sem sair do portal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36592" y="1819656"/>
            <a:ext cx="4087368" cy="694944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736592" y="1819656"/>
            <a:ext cx="548640" cy="694944"/>
          </a:xfrm>
          <a:prstGeom prst="rect">
            <a:avLst/>
          </a:prstGeom>
          <a:solidFill>
            <a:srgbClr val="0D6B4A"/>
          </a:solidFill>
          <a:ln w="12700">
            <a:solidFill>
              <a:srgbClr val="0D6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98424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58384" y="189280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Atividades Pendentes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58384" y="216712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 que está para entregar — com status atualizado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36592" y="2633472"/>
            <a:ext cx="4087368" cy="694944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4736592" y="2633472"/>
            <a:ext cx="548640" cy="694944"/>
          </a:xfrm>
          <a:prstGeom prst="rect">
            <a:avLst/>
          </a:prstGeom>
          <a:solidFill>
            <a:srgbClr val="0D6B4A"/>
          </a:solidFill>
          <a:ln w="12700">
            <a:solidFill>
              <a:srgbClr val="0D6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798064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58384" y="270662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Resumo Acadêmico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358384" y="298094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Aulas da semana, atividades por situação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36592" y="3447288"/>
            <a:ext cx="4087368" cy="694944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4736592" y="3447288"/>
            <a:ext cx="548640" cy="694944"/>
          </a:xfrm>
          <a:prstGeom prst="rect">
            <a:avLst/>
          </a:prstGeom>
          <a:solidFill>
            <a:srgbClr val="0D6B4A"/>
          </a:solidFill>
          <a:ln w="12700">
            <a:solidFill>
              <a:srgbClr val="0D6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611880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58384" y="352044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Banner do Curso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358384" y="379476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Dados do curso do aluno em destaque no topo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292608" y="4636008"/>
            <a:ext cx="8558784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3"/>
          <p:cNvSpPr/>
          <p:nvPr/>
        </p:nvSpPr>
        <p:spPr>
          <a:xfrm>
            <a:off x="411480" y="466344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66534"/>
                </a:solidFill>
              </a:rPr>
              <a:t>Dados do aluno preenchidos automaticamente — sem redigitar RA, curso ou campus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 |  Apresentação Parcial 2026</a:t>
            </a:r>
            <a:endParaRPr lang="en-US" sz="800" dirty="0"/>
          </a:p>
        </p:txBody>
      </p:sp>
    </p:spTree>
  </p:cSld>
  <p:clrMapOvr>
    <a:masterClrMapping/>
  </p:clrMapOvr>
  <p:transition spd="med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 Aluno Nunca Fica no Escuro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DBE9"/>
                </a:solidFill>
              </a:rPr>
              <a:t>4 momentos em que o aluno recebe notificação automática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984248" cy="31089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4A7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1737360"/>
            <a:ext cx="484632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66928" y="2331720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Abertura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834640"/>
            <a:ext cx="1801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BE9"/>
                </a:solidFill>
              </a:rPr>
              <a:t>Confirmação imediata de que o pedido foi recebido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24328" y="1508760"/>
            <a:ext cx="1984248" cy="3108960"/>
          </a:xfrm>
          <a:prstGeom prst="rect">
            <a:avLst/>
          </a:prstGeom>
          <a:solidFill>
            <a:srgbClr val="1E4D6E"/>
          </a:solidFill>
          <a:ln w="12700">
            <a:solidFill>
              <a:srgbClr val="1E4A7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1737360"/>
            <a:ext cx="484632" cy="4846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70048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734056" y="2331720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Em Andamento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715768" y="2834640"/>
            <a:ext cx="1801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BE9"/>
                </a:solidFill>
              </a:rPr>
              <a:t>A equipe está trabalhando na solicitação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91456" y="1508760"/>
            <a:ext cx="1984248" cy="3108960"/>
          </a:xfrm>
          <a:prstGeom prst="rect">
            <a:avLst/>
          </a:prstGeom>
          <a:solidFill>
            <a:srgbClr val="1E3F5E"/>
          </a:solidFill>
          <a:ln w="12700">
            <a:solidFill>
              <a:srgbClr val="1E4A7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1737360"/>
            <a:ext cx="484632" cy="4846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37176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901184" y="2331720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Precisa de Você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82896" y="2834640"/>
            <a:ext cx="1801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BE9"/>
                </a:solidFill>
              </a:rPr>
              <a:t>Quando a equipe precisa de mais informação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958584" y="1508760"/>
            <a:ext cx="1984248" cy="3108960"/>
          </a:xfrm>
          <a:prstGeom prst="rect">
            <a:avLst/>
          </a:prstGeom>
          <a:solidFill>
            <a:srgbClr val="2665F9"/>
          </a:solidFill>
          <a:ln w="12700">
            <a:solidFill>
              <a:srgbClr val="1E4A7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2" y="1737360"/>
            <a:ext cx="484632" cy="4846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04304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068312" y="2331720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Concluído!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50024" y="2834640"/>
            <a:ext cx="1801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BE9"/>
                </a:solidFill>
              </a:rPr>
              <a:t>Pedido encerrado — e uma pesquisa de satisfação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</a:rPr>
              <a:t>EdTech ServiceNow  |  Apresentação Parcial 2026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91640"/>
            <a:ext cx="1609344" cy="16093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0" y="4114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A2E5A"/>
                </a:solidFill>
              </a:rPr>
              <a:t>D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3200400" y="13716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Secretaria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Acadêmica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3200400" y="2999232"/>
            <a:ext cx="50292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3200400" y="31272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BE9"/>
                </a:solidFill>
              </a:rPr>
              <a:t>Documentos acadêmicos solicitados pelo portal — prazo de 3 dias úteis</a:t>
            </a:r>
            <a:endParaRPr lang="en-US" sz="1400" dirty="0"/>
          </a:p>
        </p:txBody>
      </p:sp>
    </p:spTree>
  </p:cSld>
  <p:clrMapOvr>
    <a:masterClrMapping/>
  </p:clrMapOvr>
  <p:transition spd="med"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92608" y="18288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</a:rPr>
              <a:t>Secretaria — A Transformação no Atendimento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1975104" cy="246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38328" y="83210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SECRETARIA ACADÊMICA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1051560"/>
            <a:ext cx="3931920" cy="3611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38912" y="11612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A5A5"/>
                </a:solidFill>
              </a:rPr>
              <a:t>❌  ANTES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" y="1645920"/>
            <a:ext cx="3657600" cy="594360"/>
          </a:xfrm>
          <a:prstGeom prst="rect">
            <a:avLst/>
          </a:prstGeom>
          <a:solidFill>
            <a:srgbClr val="0D2040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84048" y="1645920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12064" y="1719072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Ida presencial ou e-mail genérico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331720"/>
            <a:ext cx="3657600" cy="594360"/>
          </a:xfrm>
          <a:prstGeom prst="rect">
            <a:avLst/>
          </a:prstGeom>
          <a:solidFill>
            <a:srgbClr val="0D2040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84048" y="2331720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12064" y="2404872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Prazo de 3 dias: promessa sem controle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017520"/>
            <a:ext cx="3657600" cy="594360"/>
          </a:xfrm>
          <a:prstGeom prst="rect">
            <a:avLst/>
          </a:prstGeom>
          <a:solidFill>
            <a:srgbClr val="0D2040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84048" y="3017520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12064" y="3090672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Aluno volta várias vezes sem resposta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703320"/>
            <a:ext cx="3657600" cy="594360"/>
          </a:xfrm>
          <a:prstGeom prst="rect">
            <a:avLst/>
          </a:prstGeom>
          <a:solidFill>
            <a:srgbClr val="0D2040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384048" y="3703320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12064" y="3776472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Sem histórico, sem rastreabilidade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15968" y="2468880"/>
            <a:ext cx="512064" cy="512064"/>
          </a:xfrm>
          <a:prstGeom prst="rect">
            <a:avLst/>
          </a:prstGeom>
          <a:solidFill>
            <a:srgbClr val="0149F9"/>
          </a:solidFill>
          <a:ln w="12700">
            <a:solidFill>
              <a:srgbClr val="0149F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532888"/>
            <a:ext cx="384048" cy="38404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919472" y="1051560"/>
            <a:ext cx="3931920" cy="3611880"/>
          </a:xfrm>
          <a:prstGeom prst="rect">
            <a:avLst/>
          </a:prstGeom>
          <a:solidFill>
            <a:srgbClr val="0D4A2A"/>
          </a:solidFill>
          <a:ln w="12700">
            <a:solidFill>
              <a:srgbClr val="0D4A2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047488" y="11612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6EFAC"/>
                </a:solidFill>
              </a:rPr>
              <a:t>✅  COM O SISTEMA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992624" y="1645920"/>
            <a:ext cx="3657600" cy="594360"/>
          </a:xfrm>
          <a:prstGeom prst="rect">
            <a:avLst/>
          </a:prstGeom>
          <a:solidFill>
            <a:srgbClr val="0A3020"/>
          </a:solidFill>
          <a:ln w="12700">
            <a:solidFill>
              <a:srgbClr val="145A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4992624" y="1645920"/>
            <a:ext cx="54864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5120640" y="1719072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Solicitação pelo portal — 24h, de qualquer lugar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992624" y="2331720"/>
            <a:ext cx="3657600" cy="594360"/>
          </a:xfrm>
          <a:prstGeom prst="rect">
            <a:avLst/>
          </a:prstGeom>
          <a:solidFill>
            <a:srgbClr val="0A3020"/>
          </a:solidFill>
          <a:ln w="12700">
            <a:solidFill>
              <a:srgbClr val="145A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5"/>
          <p:cNvSpPr/>
          <p:nvPr/>
        </p:nvSpPr>
        <p:spPr>
          <a:xfrm>
            <a:off x="4992624" y="2331720"/>
            <a:ext cx="54864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5120640" y="2404872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3 dias úteis medidos em tempo real, gestor alerta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992624" y="3017520"/>
            <a:ext cx="3657600" cy="594360"/>
          </a:xfrm>
          <a:prstGeom prst="rect">
            <a:avLst/>
          </a:prstGeom>
          <a:solidFill>
            <a:srgbClr val="0A3020"/>
          </a:solidFill>
          <a:ln w="12700">
            <a:solidFill>
              <a:srgbClr val="145A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4992624" y="3017520"/>
            <a:ext cx="54864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5120640" y="3090672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Aluno acompanha cada etapa pelo portal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992624" y="3703320"/>
            <a:ext cx="3657600" cy="594360"/>
          </a:xfrm>
          <a:prstGeom prst="rect">
            <a:avLst/>
          </a:prstGeom>
          <a:solidFill>
            <a:srgbClr val="0A3020"/>
          </a:solidFill>
          <a:ln w="12700">
            <a:solidFill>
              <a:srgbClr val="145A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1"/>
          <p:cNvSpPr/>
          <p:nvPr/>
        </p:nvSpPr>
        <p:spPr>
          <a:xfrm>
            <a:off x="4992624" y="3703320"/>
            <a:ext cx="54864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5120640" y="3776472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Histórico completo, notificação automática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 |  Apresentação Parcial 2026</a:t>
            </a:r>
            <a:endParaRPr lang="en-US" sz="800" dirty="0"/>
          </a:p>
        </p:txBody>
      </p:sp>
    </p:spTree>
  </p:cSld>
  <p:clrMapOvr>
    <a:masterClrMapping/>
  </p:clrMapOvr>
  <p:transition spd="med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92608" y="18288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</a:rPr>
              <a:t>4 Serviços Disponíveis no Portal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1975104" cy="246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38328" y="83210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SECRETARIA ACADÊMICA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1170432"/>
            <a:ext cx="4224528" cy="1664208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92608" y="1170432"/>
            <a:ext cx="4224528" cy="5120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24358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58768" y="124358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86968" y="127101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Comprovante de Matrícula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75488" y="1764792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 documento mais solicitado — comprova matrícula ativa para estágio, emprego ou consulado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18304" y="1170432"/>
            <a:ext cx="4224528" cy="1664208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4718304" y="1170432"/>
            <a:ext cx="4224528" cy="512064"/>
          </a:xfrm>
          <a:prstGeom prst="rect">
            <a:avLst/>
          </a:prstGeom>
          <a:solidFill>
            <a:srgbClr val="0149F9"/>
          </a:solidFill>
          <a:ln w="12700">
            <a:solidFill>
              <a:srgbClr val="0149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124358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84464" y="124358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312664" y="127101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Declaração Acadêmica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901184" y="1764792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Com finalidade específica: bolsa, transferência, órgão público. O aluno escolhe no formulário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92608" y="2999232"/>
            <a:ext cx="4224528" cy="1664208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292608" y="2999232"/>
            <a:ext cx="4224528" cy="512064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072384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58768" y="307238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86968" y="309981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Histórico Escolar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75488" y="3593592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Registro completo de disciplinas e notas — emitido digitalmente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18304" y="2999232"/>
            <a:ext cx="4224528" cy="1664208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0"/>
          <p:cNvSpPr/>
          <p:nvPr/>
        </p:nvSpPr>
        <p:spPr>
          <a:xfrm>
            <a:off x="4718304" y="2999232"/>
            <a:ext cx="4224528" cy="512064"/>
          </a:xfrm>
          <a:prstGeom prst="rect">
            <a:avLst/>
          </a:prstGeom>
          <a:solidFill>
            <a:srgbClr val="0D6B4A"/>
          </a:solidFill>
          <a:ln w="12700">
            <a:solidFill>
              <a:srgbClr val="0D6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3072384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284464" y="307238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5312664" y="309981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Diploma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901184" y="3593592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Solicitação formal com todos os dados do aluno já preenchidos automaticamente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 |  Apresentação Parcial 2026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C9B21-FA99-7E6A-96F9-CD82F238D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D53673-19BC-0F20-03D1-64D3885B14AB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4F5CCE-FBC6-44A2-79BF-B8099BED66AB}"/>
              </a:ext>
            </a:extLst>
          </p:cNvPr>
          <p:cNvSpPr/>
          <p:nvPr/>
        </p:nvSpPr>
        <p:spPr>
          <a:xfrm>
            <a:off x="292608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1B3E"/>
                </a:solidFill>
              </a:rPr>
              <a:t>Portal da </a:t>
            </a:r>
            <a:r>
              <a:rPr lang="en-US" sz="2500" b="1" dirty="0" err="1">
                <a:solidFill>
                  <a:srgbClr val="0D1B3E"/>
                </a:solidFill>
              </a:rPr>
              <a:t>Secretaria</a:t>
            </a:r>
            <a:r>
              <a:rPr lang="en-US" sz="2500" b="1" dirty="0">
                <a:solidFill>
                  <a:srgbClr val="0D1B3E"/>
                </a:solidFill>
              </a:rPr>
              <a:t>— Experiência Personalizada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190DCD0-C840-2E05-ADC8-86500695878E}"/>
              </a:ext>
            </a:extLst>
          </p:cNvPr>
          <p:cNvSpPr/>
          <p:nvPr/>
        </p:nvSpPr>
        <p:spPr>
          <a:xfrm>
            <a:off x="7560884" y="391714"/>
            <a:ext cx="1367942" cy="246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DE2C93-8E95-3299-50B6-6CBF9AA9C7C9}"/>
              </a:ext>
            </a:extLst>
          </p:cNvPr>
          <p:cNvSpPr/>
          <p:nvPr/>
        </p:nvSpPr>
        <p:spPr>
          <a:xfrm>
            <a:off x="7611466" y="404467"/>
            <a:ext cx="12765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</a:rPr>
              <a:t>PORTAL EDTECH</a:t>
            </a:r>
            <a:endParaRPr lang="en-US" sz="1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D798287-BFA7-8633-D909-836DFB2FF056}"/>
              </a:ext>
            </a:extLst>
          </p:cNvPr>
          <p:cNvSpPr/>
          <p:nvPr/>
        </p:nvSpPr>
        <p:spPr>
          <a:xfrm>
            <a:off x="384048" y="2365683"/>
            <a:ext cx="4023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15DD4E8F-CA58-26E8-BD02-F6389460E4AB}"/>
              </a:ext>
            </a:extLst>
          </p:cNvPr>
          <p:cNvSpPr/>
          <p:nvPr/>
        </p:nvSpPr>
        <p:spPr>
          <a:xfrm>
            <a:off x="365760" y="4864608"/>
            <a:ext cx="21775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| Apresentação Parcial 2026</a:t>
            </a:r>
            <a:endParaRPr lang="en-US" sz="8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7B17DB2-C1D2-FB1F-2CA1-D29002B49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950" y="818868"/>
            <a:ext cx="6652916" cy="3840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67019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91640"/>
            <a:ext cx="1609344" cy="16093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0" y="4114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A2E5A"/>
                </a:solidFill>
              </a:rPr>
              <a:t>E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3200400" y="13716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Financeiro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3200400" y="2999232"/>
            <a:ext cx="50292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3200400" y="31272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BE9"/>
                </a:solidFill>
              </a:rPr>
              <a:t>Boletos, comprovantes e contestações — prazo de 1 dia útil</a:t>
            </a:r>
            <a:endParaRPr lang="en-US" sz="1400" dirty="0"/>
          </a:p>
        </p:txBody>
      </p:sp>
    </p:spTree>
  </p:cSld>
  <p:clrMapOvr>
    <a:masterClrMapping/>
  </p:clrMapOvr>
  <p:transition spd="med">
    <p:push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92608" y="18288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</a:rPr>
              <a:t>Financeiro — A Jornada que Precisa Mudar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1124712" cy="246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38328" y="832104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FINANCEIRO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1051560"/>
            <a:ext cx="859536" cy="3547872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 rot="5400000">
            <a:off x="292608" y="176022"/>
            <a:ext cx="859536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ED7AA"/>
                </a:solidFill>
              </a:rPr>
              <a:t>ANTES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261872" y="1078992"/>
            <a:ext cx="1389888" cy="1572768"/>
          </a:xfrm>
          <a:prstGeom prst="rect">
            <a:avLst/>
          </a:prstGeom>
          <a:solidFill>
            <a:srgbClr val="7C2D12"/>
          </a:solidFill>
          <a:ln w="12700">
            <a:solidFill>
              <a:srgbClr val="9A3A1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25880" y="1460101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ED7AA"/>
                </a:solidFill>
              </a:rPr>
              <a:t>Boleto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ED7AA"/>
                </a:solidFill>
              </a:rPr>
              <a:t>não chegou</a:t>
            </a:r>
            <a:endParaRPr lang="en-US" sz="2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904" y="1709928"/>
            <a:ext cx="9144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79776" y="1078992"/>
            <a:ext cx="1389888" cy="1572768"/>
          </a:xfrm>
          <a:prstGeom prst="rect">
            <a:avLst/>
          </a:prstGeom>
          <a:solidFill>
            <a:srgbClr val="6B2510"/>
          </a:solidFill>
          <a:ln w="12700">
            <a:solidFill>
              <a:srgbClr val="9A3A1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843784" y="1444752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ED7AA"/>
                </a:solidFill>
              </a:rPr>
              <a:t>Manda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ED7AA"/>
                </a:solidFill>
              </a:rPr>
              <a:t>e-mail</a:t>
            </a:r>
            <a:endParaRPr lang="en-US" sz="2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709928"/>
            <a:ext cx="9144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297680" y="1078992"/>
            <a:ext cx="1389888" cy="1572768"/>
          </a:xfrm>
          <a:prstGeom prst="rect">
            <a:avLst/>
          </a:prstGeom>
          <a:solidFill>
            <a:srgbClr val="5A1E0D"/>
          </a:solidFill>
          <a:ln w="12700">
            <a:solidFill>
              <a:srgbClr val="9A3A1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4352544" y="1421892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ED7AA"/>
                </a:solidFill>
              </a:rPr>
              <a:t>Espera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ED7AA"/>
                </a:solidFill>
              </a:rPr>
              <a:t>2+ dias</a:t>
            </a:r>
            <a:endParaRPr lang="en-US" sz="2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1709928"/>
            <a:ext cx="91440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815584" y="1078992"/>
            <a:ext cx="1389888" cy="1572768"/>
          </a:xfrm>
          <a:prstGeom prst="rect">
            <a:avLst/>
          </a:prstGeom>
          <a:solidFill>
            <a:srgbClr val="4A1809"/>
          </a:solidFill>
          <a:ln w="12700">
            <a:solidFill>
              <a:srgbClr val="9A3A1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/>
          <p:nvPr/>
        </p:nvSpPr>
        <p:spPr>
          <a:xfrm>
            <a:off x="5879592" y="1444752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ED7AA"/>
                </a:solidFill>
              </a:rPr>
              <a:t>Boleto chega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ED7AA"/>
                </a:solidFill>
              </a:rPr>
              <a:t>atrasado</a:t>
            </a:r>
            <a:endParaRPr lang="en-US" sz="2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1709928"/>
            <a:ext cx="91440" cy="27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333488" y="1078992"/>
            <a:ext cx="1389888" cy="1572768"/>
          </a:xfrm>
          <a:prstGeom prst="rect">
            <a:avLst/>
          </a:prstGeom>
          <a:solidFill>
            <a:srgbClr val="3A1206"/>
          </a:solidFill>
          <a:ln w="12700">
            <a:solidFill>
              <a:srgbClr val="9A3A1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5"/>
          <p:cNvSpPr/>
          <p:nvPr/>
        </p:nvSpPr>
        <p:spPr>
          <a:xfrm>
            <a:off x="7388352" y="146304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ED7AA"/>
                </a:solidFill>
              </a:rPr>
              <a:t>Multa!</a:t>
            </a:r>
            <a:endParaRPr lang="en-US" sz="2400" dirty="0"/>
          </a:p>
        </p:txBody>
      </p:sp>
      <p:sp>
        <p:nvSpPr>
          <p:cNvPr id="22" name="Shape 16"/>
          <p:cNvSpPr/>
          <p:nvPr/>
        </p:nvSpPr>
        <p:spPr>
          <a:xfrm>
            <a:off x="292608" y="2852928"/>
            <a:ext cx="859536" cy="1746504"/>
          </a:xfrm>
          <a:prstGeom prst="rect">
            <a:avLst/>
          </a:prstGeom>
          <a:solidFill>
            <a:srgbClr val="0D6B4A"/>
          </a:solidFill>
          <a:ln w="12700">
            <a:solidFill>
              <a:srgbClr val="0D6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7"/>
          <p:cNvSpPr/>
          <p:nvPr/>
        </p:nvSpPr>
        <p:spPr>
          <a:xfrm rot="5400000">
            <a:off x="292608" y="2852928"/>
            <a:ext cx="85953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A7F3D0"/>
                </a:solidFill>
              </a:rPr>
              <a:t>AGORA</a:t>
            </a:r>
            <a:endParaRPr lang="en-US" dirty="0"/>
          </a:p>
        </p:txBody>
      </p:sp>
      <p:sp>
        <p:nvSpPr>
          <p:cNvPr id="24" name="Shape 18"/>
          <p:cNvSpPr/>
          <p:nvPr/>
        </p:nvSpPr>
        <p:spPr>
          <a:xfrm>
            <a:off x="1261872" y="2880360"/>
            <a:ext cx="1389888" cy="1572768"/>
          </a:xfrm>
          <a:prstGeom prst="rect">
            <a:avLst/>
          </a:prstGeom>
          <a:solidFill>
            <a:srgbClr val="065F46"/>
          </a:solidFill>
          <a:ln w="12700">
            <a:solidFill>
              <a:srgbClr val="0E8A5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19"/>
          <p:cNvSpPr/>
          <p:nvPr/>
        </p:nvSpPr>
        <p:spPr>
          <a:xfrm>
            <a:off x="1316736" y="3272898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1FAE5"/>
                </a:solidFill>
              </a:rPr>
              <a:t>Acessa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D1FAE5"/>
                </a:solidFill>
              </a:rPr>
              <a:t>o portal</a:t>
            </a:r>
            <a:endParaRPr lang="en-US" sz="24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904" y="3511296"/>
            <a:ext cx="91440" cy="2743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2779776" y="2880360"/>
            <a:ext cx="1389888" cy="1572768"/>
          </a:xfrm>
          <a:prstGeom prst="rect">
            <a:avLst/>
          </a:prstGeom>
          <a:solidFill>
            <a:srgbClr val="047857"/>
          </a:solidFill>
          <a:ln w="12700">
            <a:solidFill>
              <a:srgbClr val="0E8A5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1"/>
          <p:cNvSpPr/>
          <p:nvPr/>
        </p:nvSpPr>
        <p:spPr>
          <a:xfrm>
            <a:off x="2807208" y="3266367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1FAE5"/>
                </a:solidFill>
              </a:rPr>
              <a:t>Preenche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D1FAE5"/>
                </a:solidFill>
              </a:rPr>
              <a:t>o </a:t>
            </a:r>
            <a:r>
              <a:rPr lang="en-US" b="1" dirty="0" err="1">
                <a:solidFill>
                  <a:srgbClr val="D1FAE5"/>
                </a:solidFill>
              </a:rPr>
              <a:t>formul</a:t>
            </a:r>
            <a:r>
              <a:rPr lang="pt-BR" b="1" dirty="0">
                <a:solidFill>
                  <a:srgbClr val="D1FAE5"/>
                </a:solidFill>
              </a:rPr>
              <a:t>ário</a:t>
            </a:r>
            <a:endParaRPr lang="en-US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3511296"/>
            <a:ext cx="91440" cy="27432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4297680" y="2880360"/>
            <a:ext cx="1389888" cy="1572768"/>
          </a:xfrm>
          <a:prstGeom prst="rect">
            <a:avLst/>
          </a:prstGeom>
          <a:solidFill>
            <a:srgbClr val="059669"/>
          </a:solidFill>
          <a:ln w="12700">
            <a:solidFill>
              <a:srgbClr val="0E8A5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3"/>
          <p:cNvSpPr/>
          <p:nvPr/>
        </p:nvSpPr>
        <p:spPr>
          <a:xfrm>
            <a:off x="4352544" y="3269633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1FAE5"/>
                </a:solidFill>
              </a:rPr>
              <a:t>1</a:t>
            </a:r>
            <a:r>
              <a:rPr lang="en-US" sz="2000" b="1" dirty="0">
                <a:solidFill>
                  <a:srgbClr val="D1FAE5"/>
                </a:solidFill>
              </a:rPr>
              <a:t> dia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D1FAE5"/>
                </a:solidFill>
              </a:rPr>
              <a:t>útil</a:t>
            </a:r>
            <a:endParaRPr lang="en-US" sz="20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3511296"/>
            <a:ext cx="91440" cy="27432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5815584" y="2880360"/>
            <a:ext cx="1389888" cy="1572768"/>
          </a:xfrm>
          <a:prstGeom prst="rect">
            <a:avLst/>
          </a:prstGeom>
          <a:solidFill>
            <a:srgbClr val="10B981"/>
          </a:solidFill>
          <a:ln w="12700">
            <a:solidFill>
              <a:srgbClr val="0E8A5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Text 25"/>
          <p:cNvSpPr/>
          <p:nvPr/>
        </p:nvSpPr>
        <p:spPr>
          <a:xfrm>
            <a:off x="5870448" y="3272245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1FAE5"/>
                </a:solidFill>
              </a:rPr>
              <a:t>Boleto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D1FAE5"/>
                </a:solidFill>
              </a:rPr>
              <a:t>chega!</a:t>
            </a:r>
            <a:endParaRPr lang="en-US" sz="24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3511296"/>
            <a:ext cx="91440" cy="27432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7333488" y="2880360"/>
            <a:ext cx="1389888" cy="1572768"/>
          </a:xfrm>
          <a:prstGeom prst="rect">
            <a:avLst/>
          </a:prstGeom>
          <a:solidFill>
            <a:srgbClr val="34D399"/>
          </a:solidFill>
          <a:ln w="12700">
            <a:solidFill>
              <a:srgbClr val="0E8A5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Text 27"/>
          <p:cNvSpPr/>
          <p:nvPr/>
        </p:nvSpPr>
        <p:spPr>
          <a:xfrm>
            <a:off x="7388352" y="333756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1FAE5"/>
                </a:solidFill>
              </a:rPr>
              <a:t>Resolvido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D1FAE5"/>
                </a:solidFill>
              </a:rPr>
              <a:t>✓</a:t>
            </a:r>
            <a:endParaRPr lang="en-US" dirty="0"/>
          </a:p>
        </p:txBody>
      </p:sp>
      <p:sp>
        <p:nvSpPr>
          <p:cNvPr id="38" name="Text 28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 |  Apresentação Parcial 2026</a:t>
            </a:r>
            <a:endParaRPr lang="en-US" sz="800" dirty="0"/>
          </a:p>
        </p:txBody>
      </p:sp>
    </p:spTree>
  </p:cSld>
  <p:clrMapOvr>
    <a:masterClrMapping/>
  </p:clrMapOvr>
  <p:transition spd="med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92608" y="18288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</a:rPr>
              <a:t>4 Serviços Disponíveis no Portal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1124712" cy="246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38328" y="832104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FINANCEIRO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1170432"/>
            <a:ext cx="4224528" cy="1664208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92608" y="1170432"/>
            <a:ext cx="4224528" cy="5120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24358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58768" y="124358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86968" y="127101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Solicitar 2ª Via de Boleto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5488" y="1764792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Sem ligação, sem e-mail. Disponível no portal 24h — o boleto chega no prazo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18304" y="1170432"/>
            <a:ext cx="4224528" cy="1664208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4718304" y="1170432"/>
            <a:ext cx="4224528" cy="512064"/>
          </a:xfrm>
          <a:prstGeom prst="rect">
            <a:avLst/>
          </a:prstGeom>
          <a:solidFill>
            <a:srgbClr val="0149F9"/>
          </a:solidFill>
          <a:ln w="12700">
            <a:solidFill>
              <a:srgbClr val="0149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124358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84464" y="124358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312664" y="127101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Enviar Comprovante de Pagamento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901184" y="1764792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Upload direto no formulário. Sem anexo por e-mail. O campo de upload é obrigatório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92608" y="2999232"/>
            <a:ext cx="4224528" cy="1664208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292608" y="2999232"/>
            <a:ext cx="4224528" cy="512064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072384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58768" y="307238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86968" y="309981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Contestar Multa por Atraso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75488" y="3593592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Registro formal com evidências. Rastreável e com histórico — sem depender de e-mail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18304" y="2999232"/>
            <a:ext cx="4224528" cy="1664208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0"/>
          <p:cNvSpPr/>
          <p:nvPr/>
        </p:nvSpPr>
        <p:spPr>
          <a:xfrm>
            <a:off x="4718304" y="2999232"/>
            <a:ext cx="4224528" cy="512064"/>
          </a:xfrm>
          <a:prstGeom prst="rect">
            <a:avLst/>
          </a:prstGeom>
          <a:solidFill>
            <a:srgbClr val="0D6B4A"/>
          </a:solidFill>
          <a:ln w="12700">
            <a:solidFill>
              <a:srgbClr val="0D6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3072384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284464" y="307238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5312664" y="309981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Tirar Dúvida Financeira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901184" y="3593592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Canal estruturado para qualquer questão — com histórico de todo o atendimento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 |  Apresentação Parcial 2026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20315-5E91-40F2-1067-A75BAB54F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86E148-A605-C925-7012-98EBEBF7CCEA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EA6500-80ED-E462-EFF1-47E05550C49C}"/>
              </a:ext>
            </a:extLst>
          </p:cNvPr>
          <p:cNvSpPr/>
          <p:nvPr/>
        </p:nvSpPr>
        <p:spPr>
          <a:xfrm>
            <a:off x="292608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1B3E"/>
                </a:solidFill>
              </a:rPr>
              <a:t>Portal do </a:t>
            </a:r>
            <a:r>
              <a:rPr lang="en-US" sz="2500" b="1" dirty="0" err="1">
                <a:solidFill>
                  <a:srgbClr val="0D1B3E"/>
                </a:solidFill>
              </a:rPr>
              <a:t>Financeiro</a:t>
            </a:r>
            <a:r>
              <a:rPr lang="en-US" sz="2500" b="1" dirty="0">
                <a:solidFill>
                  <a:srgbClr val="0D1B3E"/>
                </a:solidFill>
              </a:rPr>
              <a:t> — Experiência Personalizada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FB74760-B8F1-3F98-C6A4-331119A37935}"/>
              </a:ext>
            </a:extLst>
          </p:cNvPr>
          <p:cNvSpPr/>
          <p:nvPr/>
        </p:nvSpPr>
        <p:spPr>
          <a:xfrm>
            <a:off x="7560884" y="391714"/>
            <a:ext cx="1367942" cy="246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FD6786-487C-C901-35BA-4AFC47A6CA01}"/>
              </a:ext>
            </a:extLst>
          </p:cNvPr>
          <p:cNvSpPr/>
          <p:nvPr/>
        </p:nvSpPr>
        <p:spPr>
          <a:xfrm>
            <a:off x="7611466" y="404467"/>
            <a:ext cx="12765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</a:rPr>
              <a:t>PORTAL EDTECH</a:t>
            </a:r>
            <a:endParaRPr lang="en-US" sz="1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B9CD4D-63ED-FED9-508F-CE386C691F9C}"/>
              </a:ext>
            </a:extLst>
          </p:cNvPr>
          <p:cNvSpPr/>
          <p:nvPr/>
        </p:nvSpPr>
        <p:spPr>
          <a:xfrm>
            <a:off x="384048" y="2365683"/>
            <a:ext cx="4023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FB5AB5CB-629D-7203-E390-D926310886EA}"/>
              </a:ext>
            </a:extLst>
          </p:cNvPr>
          <p:cNvSpPr/>
          <p:nvPr/>
        </p:nvSpPr>
        <p:spPr>
          <a:xfrm>
            <a:off x="365760" y="4864608"/>
            <a:ext cx="21775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| Apresentação Parcial 2026</a:t>
            </a:r>
            <a:endParaRPr lang="en-US" sz="8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FCA076B-8E1D-B55B-36AB-A8A8048DB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950" y="818868"/>
            <a:ext cx="6652916" cy="3840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1548412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91640"/>
            <a:ext cx="1609344" cy="16093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0" y="4114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A2E5A"/>
                </a:solidFill>
              </a:rPr>
              <a:t>F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3200400" y="13716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Suporte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Técnico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3200400" y="2999232"/>
            <a:ext cx="5029200" cy="0"/>
          </a:xfrm>
          <a:prstGeom prst="line">
            <a:avLst/>
          </a:prstGeom>
          <a:noFill/>
          <a:ln w="254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3200400" y="31272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BE9"/>
                </a:solidFill>
              </a:rPr>
              <a:t>AVA e aulas — resposta em 3h, resolução em 8h</a:t>
            </a:r>
            <a:endParaRPr lang="en-US" sz="1400" dirty="0"/>
          </a:p>
        </p:txBody>
      </p:sp>
    </p:spTree>
  </p:cSld>
  <p:clrMapOvr>
    <a:masterClrMapping/>
  </p:clrMapOvr>
  <p:transition spd="med">
    <p:push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92608" y="18288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</a:rPr>
              <a:t>Suporte — O Que Muda Para o Aluno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1549908" cy="246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38328" y="832104"/>
            <a:ext cx="1458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SUPORTE TÉCNICO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1024128"/>
            <a:ext cx="3931920" cy="3749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84048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ANTES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EF4444"/>
                </a:solidFill>
              </a:rPr>
              <a:t>8h+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384048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resposta real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3108960"/>
            <a:ext cx="3017520" cy="0"/>
          </a:xfrm>
          <a:prstGeom prst="line">
            <a:avLst/>
          </a:prstGeom>
          <a:noFill/>
          <a:ln w="1270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84048" y="3218688"/>
            <a:ext cx="3749040" cy="402336"/>
          </a:xfrm>
          <a:prstGeom prst="rect">
            <a:avLst/>
          </a:prstGeom>
          <a:solidFill>
            <a:srgbClr val="0D204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02920" y="3264408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Promessa de 3h que ninguém cumpre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3694176"/>
            <a:ext cx="3749040" cy="402336"/>
          </a:xfrm>
          <a:prstGeom prst="rect">
            <a:avLst/>
          </a:prstGeom>
          <a:solidFill>
            <a:srgbClr val="0D204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3739896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Aluno manda e-mail — torce para alguém ver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4169664"/>
            <a:ext cx="3749040" cy="402336"/>
          </a:xfrm>
          <a:prstGeom prst="rect">
            <a:avLst/>
          </a:prstGeom>
          <a:solidFill>
            <a:srgbClr val="0D204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02920" y="4215384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Sem visibilidade sobre o andamento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15968" y="2148840"/>
            <a:ext cx="512064" cy="868680"/>
          </a:xfrm>
          <a:prstGeom prst="rect">
            <a:avLst/>
          </a:prstGeom>
          <a:solidFill>
            <a:srgbClr val="0149F9"/>
          </a:solidFill>
          <a:ln w="12700">
            <a:solidFill>
              <a:srgbClr val="0149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315968" y="2221992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19472" y="1024128"/>
            <a:ext cx="3931920" cy="3749040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010912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65F9"/>
                </a:solidFill>
              </a:rPr>
              <a:t>COM O SISTEMA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10912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0149F9"/>
                </a:solidFill>
              </a:rPr>
              <a:t>3h</a:t>
            </a:r>
            <a:endParaRPr lang="en-US" sz="8800" dirty="0"/>
          </a:p>
        </p:txBody>
      </p:sp>
      <p:sp>
        <p:nvSpPr>
          <p:cNvPr id="22" name="Text 20"/>
          <p:cNvSpPr/>
          <p:nvPr/>
        </p:nvSpPr>
        <p:spPr>
          <a:xfrm>
            <a:off x="5010912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resposta garantida  •  8h resolução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76672" y="3108960"/>
            <a:ext cx="3017520" cy="0"/>
          </a:xfrm>
          <a:prstGeom prst="line">
            <a:avLst/>
          </a:prstGeom>
          <a:noFill/>
          <a:ln w="1270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5010912" y="3218688"/>
            <a:ext cx="3749040" cy="402336"/>
          </a:xfrm>
          <a:prstGeom prst="rect">
            <a:avLst/>
          </a:prstGeom>
          <a:solidFill>
            <a:srgbClr val="F8FA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3291840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376672" y="325526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Chamado aberto em 2 minutos pelo portal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010912" y="3694176"/>
            <a:ext cx="3749040" cy="402336"/>
          </a:xfrm>
          <a:prstGeom prst="rect">
            <a:avLst/>
          </a:prstGeom>
          <a:solidFill>
            <a:srgbClr val="F8FA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3767328"/>
            <a:ext cx="237744" cy="23774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76672" y="373075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Equipe recebe dados estruturados para diagnóstico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5010912" y="4169664"/>
            <a:ext cx="3749040" cy="402336"/>
          </a:xfrm>
          <a:prstGeom prst="rect">
            <a:avLst/>
          </a:prstGeom>
          <a:solidFill>
            <a:srgbClr val="F8FA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4242816"/>
            <a:ext cx="237744" cy="23774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376672" y="42062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Aluno acompanha cada etapa em tempo real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 |  Apresentação Parcial 2026</a:t>
            </a:r>
            <a:endParaRPr lang="en-US" sz="800" dirty="0"/>
          </a:p>
        </p:txBody>
      </p:sp>
    </p:spTree>
  </p:cSld>
  <p:clrMapOvr>
    <a:masterClrMapping/>
  </p:clrMapOvr>
  <p:transition spd="med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92608" y="18288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</a:rPr>
              <a:t>O Que o Aluno Preenche no Chamado de Suporte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1549908" cy="246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38328" y="832104"/>
            <a:ext cx="1458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SUPORTE TÉCNICO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1115568"/>
            <a:ext cx="4224528" cy="1024128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92608" y="1115568"/>
            <a:ext cx="64008" cy="102412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75488" y="11887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Sistema com problema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53619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AVA · Portal · Vídeo · Envio de Atividade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18304" y="1115568"/>
            <a:ext cx="4224528" cy="1024128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18304" y="1115568"/>
            <a:ext cx="64008" cy="102412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901184" y="11887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O que está acontecendo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01184" y="153619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Aula não abre · Vídeo não carrega · Erro de acesso · Outro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" y="2304288"/>
            <a:ext cx="4224528" cy="1024128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292608" y="2304288"/>
            <a:ext cx="64008" cy="102412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75488" y="23774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Endereço da tela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27249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URL ou caminho onde o erro aparece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18304" y="2304288"/>
            <a:ext cx="4224528" cy="1024128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718304" y="2304288"/>
            <a:ext cx="64008" cy="102412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901184" y="23774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Dispositivo e Navegador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01184" y="27249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Lista de opções — sem precisar digitar (evita erros)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2608" y="3493008"/>
            <a:ext cx="4224528" cy="1024128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292608" y="3493008"/>
            <a:ext cx="64008" cy="102412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75488" y="35661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Quando aconteceu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" y="39136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Data e horário aproximado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18304" y="3493008"/>
            <a:ext cx="4224528" cy="1024128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718304" y="3493008"/>
            <a:ext cx="64008" cy="102412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901184" y="35661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Print de Evidência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01184" y="39136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Upload de arquivo direto no formulário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92608" y="4663440"/>
            <a:ext cx="8558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Dados do aluno preenchidos automaticamente  •  Campos essenciais são obrigatórios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 |  Apresentação Parcial 2026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F5309-E133-3A87-D437-DF747B56D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22864E-1244-4707-FDF0-0AF44C7524C6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4E4082-E389-3B68-86C1-4BA9B787DCD5}"/>
              </a:ext>
            </a:extLst>
          </p:cNvPr>
          <p:cNvSpPr/>
          <p:nvPr/>
        </p:nvSpPr>
        <p:spPr>
          <a:xfrm>
            <a:off x="292608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1B3E"/>
                </a:solidFill>
              </a:rPr>
              <a:t>Portal do </a:t>
            </a:r>
            <a:r>
              <a:rPr lang="en-US" sz="2500" b="1" dirty="0" err="1">
                <a:solidFill>
                  <a:srgbClr val="0D1B3E"/>
                </a:solidFill>
              </a:rPr>
              <a:t>Financeiro</a:t>
            </a:r>
            <a:r>
              <a:rPr lang="en-US" sz="2500" b="1" dirty="0">
                <a:solidFill>
                  <a:srgbClr val="0D1B3E"/>
                </a:solidFill>
              </a:rPr>
              <a:t> — Experiência Personalizada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F28805D-5021-4146-C4BD-0CE8DBCE4162}"/>
              </a:ext>
            </a:extLst>
          </p:cNvPr>
          <p:cNvSpPr/>
          <p:nvPr/>
        </p:nvSpPr>
        <p:spPr>
          <a:xfrm>
            <a:off x="7560884" y="391714"/>
            <a:ext cx="1367942" cy="246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E7AD55F-091D-C142-4E6C-254209A0188F}"/>
              </a:ext>
            </a:extLst>
          </p:cNvPr>
          <p:cNvSpPr/>
          <p:nvPr/>
        </p:nvSpPr>
        <p:spPr>
          <a:xfrm>
            <a:off x="7611466" y="404467"/>
            <a:ext cx="12765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</a:rPr>
              <a:t>PORTAL EDTECH</a:t>
            </a:r>
            <a:endParaRPr lang="en-US" sz="1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A208A21-751B-68CD-D7D8-00C692342054}"/>
              </a:ext>
            </a:extLst>
          </p:cNvPr>
          <p:cNvSpPr/>
          <p:nvPr/>
        </p:nvSpPr>
        <p:spPr>
          <a:xfrm>
            <a:off x="384048" y="2365683"/>
            <a:ext cx="4023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72116F44-881D-98C8-0417-41111A175105}"/>
              </a:ext>
            </a:extLst>
          </p:cNvPr>
          <p:cNvSpPr/>
          <p:nvPr/>
        </p:nvSpPr>
        <p:spPr>
          <a:xfrm>
            <a:off x="365760" y="4864608"/>
            <a:ext cx="21775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| Apresentação Parcial 2026</a:t>
            </a:r>
            <a:endParaRPr lang="en-US" sz="8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333F25D-76E3-DF8E-26E3-A3E6CD178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950" y="818868"/>
            <a:ext cx="6652916" cy="3840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8157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91640"/>
            <a:ext cx="1609344" cy="16093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0" y="4114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A2E5A"/>
                </a:solidFill>
              </a:rPr>
              <a:t>G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3200400" y="13716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Gestor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Acadêmico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3200400" y="2999232"/>
            <a:ext cx="50292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3200400" y="31272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BE9"/>
                </a:solidFill>
              </a:rPr>
              <a:t>Painel de controle, indicadores e melhoria contínua</a:t>
            </a:r>
            <a:endParaRPr lang="en-US" sz="1400" dirty="0"/>
          </a:p>
        </p:txBody>
      </p:sp>
    </p:spTree>
  </p:cSld>
  <p:clrMapOvr>
    <a:masterClrMapping/>
  </p:clrMapOvr>
  <p:transition spd="med">
    <p:push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92608" y="18288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</a:rPr>
              <a:t>O Gestor Tem Tudo na Palma da Mão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896497" y="402336"/>
            <a:ext cx="1141694" cy="246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448964" y="411480"/>
            <a:ext cx="15435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GESTOR ACADÊMICO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28063" y="1069848"/>
            <a:ext cx="3310128" cy="694944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728063" y="1069848"/>
            <a:ext cx="444312" cy="694944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071" y="1234440"/>
            <a:ext cx="266587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49855" y="1143000"/>
            <a:ext cx="2725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Volume por Área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49855" y="1417320"/>
            <a:ext cx="2725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Abertos, encerrados e atrasados — por Secretaria, Financeiro e Suporte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28063" y="1883664"/>
            <a:ext cx="3310128" cy="694944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728063" y="1883664"/>
            <a:ext cx="444312" cy="694944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071" y="2048256"/>
            <a:ext cx="266587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49855" y="1956816"/>
            <a:ext cx="2725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Prazo em Tempo Real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349856" y="2231136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Quais estão dentro do prazo e quais violaram — com alerta automático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728063" y="2697480"/>
            <a:ext cx="3310128" cy="694944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5728063" y="2697480"/>
            <a:ext cx="444312" cy="694944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2071" y="2862072"/>
            <a:ext cx="266587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49855" y="2770632"/>
            <a:ext cx="2725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Satisfação dos Alunos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49855" y="3044952"/>
            <a:ext cx="26426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Notas e comentários das pesquisas pós-atendimento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728063" y="3511296"/>
            <a:ext cx="3310128" cy="694944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5728063" y="3511296"/>
            <a:ext cx="444312" cy="694944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2071" y="3675888"/>
            <a:ext cx="266587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49855" y="3584448"/>
            <a:ext cx="2725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Indicadores Consolidados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349855" y="3858768"/>
            <a:ext cx="2725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Relatório unificado das 3 áreas para decisão e apresentação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 |  Apresentação Parcial 2026</a:t>
            </a:r>
            <a:endParaRPr lang="en-US" sz="8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7527DFD-E594-1CF4-681C-4A953B3741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111" y="1069849"/>
            <a:ext cx="5206472" cy="31363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92608" y="18288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</a:rPr>
              <a:t>As Equipes Também Trabalham Pelo Portal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2315261" cy="246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38328" y="832104"/>
            <a:ext cx="22238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ÁREA OPERACIONAL INTERNA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92608" y="822960"/>
            <a:ext cx="8558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Cada equipe tem sua própria home — com a fila organizada, pendências e alertas de prazo. Nenhuma equipe vê o que é de outra.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" y="1280160"/>
            <a:ext cx="2724912" cy="38404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84048" y="131673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Secretaria — Home Operacional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1691640"/>
            <a:ext cx="2724912" cy="3090672"/>
          </a:xfrm>
          <a:prstGeom prst="rect">
            <a:avLst/>
          </a:prstGeom>
          <a:solidFill>
            <a:srgbClr val="EEF2FF"/>
          </a:solidFill>
          <a:ln w="19050">
            <a:solidFill>
              <a:srgbClr val="2665F9"/>
            </a:solidFill>
            <a:prstDash val="dash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84048" y="303580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65F9"/>
                </a:solidFill>
              </a:rPr>
              <a:t>📷  IMAGEM: Home Operacional da Secretaria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280160"/>
            <a:ext cx="2724912" cy="384048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64408" y="131673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Financeiro — Home Operacional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1691640"/>
            <a:ext cx="2724912" cy="3090672"/>
          </a:xfrm>
          <a:prstGeom prst="rect">
            <a:avLst/>
          </a:prstGeom>
          <a:solidFill>
            <a:srgbClr val="EEF2FF"/>
          </a:solidFill>
          <a:ln w="19050">
            <a:solidFill>
              <a:srgbClr val="2665F9"/>
            </a:solidFill>
            <a:prstDash val="dash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264408" y="303580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65F9"/>
                </a:solidFill>
              </a:rPr>
              <a:t>📷  IMAGEM: Home Operacional do Financeiro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53328" y="1280160"/>
            <a:ext cx="2724912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144768" y="131673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Suporte — Home Operacional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53328" y="1691640"/>
            <a:ext cx="2724912" cy="3090672"/>
          </a:xfrm>
          <a:prstGeom prst="rect">
            <a:avLst/>
          </a:prstGeom>
          <a:solidFill>
            <a:srgbClr val="EEF2FF"/>
          </a:solidFill>
          <a:ln w="19050">
            <a:solidFill>
              <a:srgbClr val="2665F9"/>
            </a:solidFill>
            <a:prstDash val="dash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144768" y="303580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65F9"/>
                </a:solidFill>
              </a:rPr>
              <a:t>📷  IMAGEM: Home Operacional do Suporte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 |  Apresentação Parcial 2026</a:t>
            </a:r>
            <a:endParaRPr lang="en-US" sz="800" dirty="0"/>
          </a:p>
        </p:txBody>
      </p:sp>
    </p:spTree>
  </p:cSld>
  <p:clrMapOvr>
    <a:masterClrMapping/>
  </p:clrMapOvr>
  <p:transition spd="med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92608" y="18288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</a:rPr>
              <a:t>Como Funciona Por Trás dos Bastidores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2608" y="841248"/>
            <a:ext cx="8558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Cada detalhe do portal foi configurado para que tudo aconteça de forma automática e sem intervenção manual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92608" y="1298448"/>
            <a:ext cx="4224528" cy="1078992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92608" y="1298448"/>
            <a:ext cx="566928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5727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137160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Formulários Inteligentes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8408" y="1719072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Campos que aparecem, somem ou se tornam obrigatórios conforme o que o aluno escolhe — o formulário guia o aluno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18304" y="1298448"/>
            <a:ext cx="4224528" cy="1078992"/>
          </a:xfrm>
          <a:prstGeom prst="rect">
            <a:avLst/>
          </a:prstGeom>
          <a:solidFill>
            <a:srgbClr val="EEF2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718304" y="1298448"/>
            <a:ext cx="566928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157276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04104" y="137160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Direcionamento Automático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04104" y="1719072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O chamado vai para a equipe certa sozinho, sem nenhum operador precisar fazer isso manualmente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92608" y="2532888"/>
            <a:ext cx="4224528" cy="1078992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292608" y="2532888"/>
            <a:ext cx="566928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280720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78408" y="260604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Prazo com Contador Real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78408" y="2953512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Cada área tem um prazo configurado — o sistema mede, alerta quando está próximo de vencer e registra atrasos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18304" y="2532888"/>
            <a:ext cx="4224528" cy="1078992"/>
          </a:xfrm>
          <a:prstGeom prst="rect">
            <a:avLst/>
          </a:prstGeom>
          <a:solidFill>
            <a:srgbClr val="EEF2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4718304" y="2532888"/>
            <a:ext cx="566928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280720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04104" y="260604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Cada Um Vê Só o Seu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04104" y="2953512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O aluno vê apenas suas solicitações. A equipe vê apenas sua fila. O gestor vê tudo, sem poder alterar o que não é dele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292608" y="3767328"/>
            <a:ext cx="4224528" cy="1078992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0"/>
          <p:cNvSpPr/>
          <p:nvPr/>
        </p:nvSpPr>
        <p:spPr>
          <a:xfrm>
            <a:off x="292608" y="3767328"/>
            <a:ext cx="566928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404164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78408" y="384048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Preenchimento Automático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78408" y="4187952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O sistema busca os dados do aluno no cadastro e preenche o formulário — RA, curso, campus, período, e-mail, telefone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718304" y="3767328"/>
            <a:ext cx="4224528" cy="1078992"/>
          </a:xfrm>
          <a:prstGeom prst="rect">
            <a:avLst/>
          </a:prstGeom>
          <a:solidFill>
            <a:srgbClr val="EEF2FF"/>
          </a:solidFill>
          <a:ln w="12700">
            <a:solidFill>
              <a:srgbClr val="D4DBE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4"/>
          <p:cNvSpPr/>
          <p:nvPr/>
        </p:nvSpPr>
        <p:spPr>
          <a:xfrm>
            <a:off x="4718304" y="3767328"/>
            <a:ext cx="566928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464" y="404164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04104" y="384048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Automação de Processo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04104" y="4187952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Ao abrir, ao atender, ao encerrar — cada etapa dispara uma ação automática: notificação, pesquisa de satisfação ou alerta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 |  Apresentação Parcial 2026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Prazos Reais. Medidos. Monitorados.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BE9"/>
                </a:solidFill>
              </a:rPr>
              <a:t>Cada área tem um acordo de prazo. O sistema mede, alerta e registra — sem depender de planilha.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724912" cy="3108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175564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5000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Suporte Técnico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2761488"/>
            <a:ext cx="217627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48640" y="2871216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CD34D"/>
                </a:solidFill>
              </a:rPr>
              <a:t>3h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48640" y="354787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B8E0"/>
                </a:solidFill>
              </a:rPr>
              <a:t>Resposta garantida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950208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3B8E0"/>
                </a:solidFill>
              </a:rPr>
              <a:t>8h · Resolução garantida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1572768"/>
            <a:ext cx="2724912" cy="3108960"/>
          </a:xfrm>
          <a:prstGeom prst="rect">
            <a:avLst/>
          </a:prstGeom>
          <a:solidFill>
            <a:srgbClr val="78350F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1755648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35000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Financeiro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611880" y="2761488"/>
            <a:ext cx="217627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3429000" y="2871216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CD34D"/>
                </a:solidFill>
              </a:rPr>
              <a:t>1 dia</a:t>
            </a:r>
            <a:endParaRPr lang="en-US" sz="4200" dirty="0"/>
          </a:p>
        </p:txBody>
      </p:sp>
      <p:sp>
        <p:nvSpPr>
          <p:cNvPr id="16" name="Text 12"/>
          <p:cNvSpPr/>
          <p:nvPr/>
        </p:nvSpPr>
        <p:spPr>
          <a:xfrm>
            <a:off x="3429000" y="354787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B8E0"/>
                </a:solidFill>
              </a:rPr>
              <a:t>Prazo de atendimento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29000" y="3950208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3B8E0"/>
                </a:solidFill>
              </a:rPr>
              <a:t>útil · Monitorado em tempo real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572768"/>
            <a:ext cx="2724912" cy="3108960"/>
          </a:xfrm>
          <a:prstGeom prst="rect">
            <a:avLst/>
          </a:prstGeom>
          <a:solidFill>
            <a:srgbClr val="14532D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1755648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235000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Secretaria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492240" y="2761488"/>
            <a:ext cx="217627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7"/>
          <p:cNvSpPr/>
          <p:nvPr/>
        </p:nvSpPr>
        <p:spPr>
          <a:xfrm>
            <a:off x="6309360" y="2871216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CD34D"/>
                </a:solidFill>
              </a:rPr>
              <a:t>3 dias</a:t>
            </a:r>
            <a:endParaRPr lang="en-US" sz="4200" dirty="0"/>
          </a:p>
        </p:txBody>
      </p:sp>
      <p:sp>
        <p:nvSpPr>
          <p:cNvPr id="23" name="Text 18"/>
          <p:cNvSpPr/>
          <p:nvPr/>
        </p:nvSpPr>
        <p:spPr>
          <a:xfrm>
            <a:off x="6309360" y="354787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B8E0"/>
                </a:solidFill>
              </a:rPr>
              <a:t>Prazo para documentos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309360" y="3950208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3B8E0"/>
                </a:solidFill>
              </a:rPr>
              <a:t>úteis · Alerta antes de vencer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</a:rPr>
              <a:t>EdTech ServiceNow  |  Apresentação Parcial 2026</a:t>
            </a:r>
            <a:endParaRPr lang="en-US" sz="800" dirty="0"/>
          </a:p>
        </p:txBody>
      </p:sp>
    </p:spTree>
  </p:cSld>
  <p:clrMapOvr>
    <a:masterClrMapping/>
  </p:clrMapOvr>
  <p:transition spd="med">
    <p:push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92608" y="182880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</a:rPr>
              <a:t>O Que Entregamos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1549908" cy="246888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38328" y="832104"/>
            <a:ext cx="1458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ENTREGA PARCIAL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1115568"/>
            <a:ext cx="420624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2161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11887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Portal único com identidade visual da EdTech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92608" y="1645920"/>
            <a:ext cx="420624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74650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" y="17190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Formulários inteligentes com preenchimento automático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92608" y="2176272"/>
            <a:ext cx="420624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27685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" y="22494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3 áreas de atendimento: Secretaria, Financeiro e Suporte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292608" y="2706624"/>
            <a:ext cx="420624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80720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3232" y="27797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Direcionamento automático para a equipe certa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292608" y="3236976"/>
            <a:ext cx="420624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3375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3232" y="33101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Prazos monitorados com alertas de violação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292608" y="3767328"/>
            <a:ext cx="420624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867912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13232" y="38404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Notificações automáticas em cada etapa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4663440" y="1115568"/>
            <a:ext cx="420624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16152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084064" y="11887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Equipes internas com homes operacionais próprias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4663440" y="1645920"/>
            <a:ext cx="420624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746504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084064" y="17190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Gestor com painel de controle consolidado</a:t>
            </a:r>
            <a:endParaRPr lang="en-US" sz="1150" dirty="0"/>
          </a:p>
        </p:txBody>
      </p:sp>
      <p:sp>
        <p:nvSpPr>
          <p:cNvPr id="30" name="Shape 20"/>
          <p:cNvSpPr/>
          <p:nvPr/>
        </p:nvSpPr>
        <p:spPr>
          <a:xfrm>
            <a:off x="4663440" y="2176272"/>
            <a:ext cx="420624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276856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084064" y="22494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Pesquisa de satisfação pós-atendimento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4663440" y="2706624"/>
            <a:ext cx="420624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807208"/>
            <a:ext cx="256032" cy="25603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084064" y="27797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Página de Aulas com widgets acadêmicos</a:t>
            </a:r>
            <a:endParaRPr lang="en-US" sz="1150" dirty="0"/>
          </a:p>
        </p:txBody>
      </p:sp>
      <p:sp>
        <p:nvSpPr>
          <p:cNvPr id="36" name="Shape 24"/>
          <p:cNvSpPr/>
          <p:nvPr/>
        </p:nvSpPr>
        <p:spPr>
          <a:xfrm>
            <a:off x="4663440" y="3236976"/>
            <a:ext cx="420624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337560"/>
            <a:ext cx="256032" cy="25603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5084064" y="33101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Controle de quem vê o quê em cada área</a:t>
            </a:r>
            <a:endParaRPr lang="en-US" sz="1150" dirty="0"/>
          </a:p>
        </p:txBody>
      </p:sp>
      <p:sp>
        <p:nvSpPr>
          <p:cNvPr id="39" name="Shape 26"/>
          <p:cNvSpPr/>
          <p:nvPr/>
        </p:nvSpPr>
        <p:spPr>
          <a:xfrm>
            <a:off x="4663440" y="3767328"/>
            <a:ext cx="420624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D4DB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67912"/>
            <a:ext cx="256032" cy="256032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5084064" y="38404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Paleta e identidade visual aplicadas em todos os widgets</a:t>
            </a:r>
            <a:endParaRPr lang="en-US" sz="1150" dirty="0"/>
          </a:p>
        </p:txBody>
      </p:sp>
      <p:sp>
        <p:nvSpPr>
          <p:cNvPr id="42" name="Text 28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EdTech ServiceNow  |  Apresentação Parcial 2026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149F9"/>
          </a:solidFill>
          <a:ln w="12700">
            <a:solidFill>
              <a:srgbClr val="0149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2665F9"/>
          </a:solidFill>
          <a:ln w="127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430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</a:rPr>
              <a:t>Obrigado!</a:t>
            </a:r>
            <a:endParaRPr lang="en-US" sz="5600" dirty="0"/>
          </a:p>
        </p:txBody>
      </p:sp>
      <p:sp>
        <p:nvSpPr>
          <p:cNvPr id="6" name="Shape 3"/>
          <p:cNvSpPr/>
          <p:nvPr/>
        </p:nvSpPr>
        <p:spPr>
          <a:xfrm>
            <a:off x="457200" y="2286000"/>
            <a:ext cx="5943600" cy="0"/>
          </a:xfrm>
          <a:prstGeom prst="line">
            <a:avLst/>
          </a:prstGeom>
          <a:noFill/>
          <a:ln w="25400">
            <a:solidFill>
              <a:srgbClr val="2665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Daremos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continuidade</a:t>
            </a:r>
            <a:r>
              <a:rPr lang="en-US" dirty="0">
                <a:solidFill>
                  <a:schemeClr val="bg1"/>
                </a:solidFill>
              </a:rPr>
              <a:t> no Portal </a:t>
            </a:r>
            <a:r>
              <a:rPr lang="en-US" dirty="0" err="1">
                <a:solidFill>
                  <a:schemeClr val="bg1"/>
                </a:solidFill>
              </a:rPr>
              <a:t>mostrando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suas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funcionalidades</a:t>
            </a:r>
            <a:r>
              <a:rPr lang="en-US" dirty="0">
                <a:solidFill>
                  <a:schemeClr val="bg1"/>
                </a:solidFill>
              </a:rPr>
              <a:t>!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6" name="Text 9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EdTech ServiceNow  ·  Programa Alpar Rocket  ·  Apresentação Parcial 2026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1677</Words>
  <Application>Microsoft Office PowerPoint</Application>
  <PresentationFormat>On-screen Show (16:9)</PresentationFormat>
  <Paragraphs>356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Arthur Andrade de Marco</cp:lastModifiedBy>
  <cp:revision>2</cp:revision>
  <dcterms:created xsi:type="dcterms:W3CDTF">2026-06-10T00:39:02Z</dcterms:created>
  <dcterms:modified xsi:type="dcterms:W3CDTF">2026-06-10T02:53:15Z</dcterms:modified>
</cp:coreProperties>
</file>